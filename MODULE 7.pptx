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0" r:id="rId3"/>
    <p:sldId id="281" r:id="rId4"/>
    <p:sldId id="282" r:id="rId5"/>
    <p:sldId id="283" r:id="rId6"/>
    <p:sldId id="284" r:id="rId7"/>
    <p:sldId id="257" r:id="rId8"/>
    <p:sldId id="261" r:id="rId9"/>
    <p:sldId id="265" r:id="rId10"/>
    <p:sldId id="262" r:id="rId11"/>
    <p:sldId id="263" r:id="rId12"/>
    <p:sldId id="266" r:id="rId13"/>
    <p:sldId id="264" r:id="rId14"/>
    <p:sldId id="267" r:id="rId15"/>
    <p:sldId id="259" r:id="rId16"/>
    <p:sldId id="268" r:id="rId17"/>
    <p:sldId id="258" r:id="rId18"/>
    <p:sldId id="260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2682D-199C-4A19-840A-3B2E50B8A8F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44C87-220C-4B03-BBE9-649C6FA8F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4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53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5496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6594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975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10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89E4-B139-80BC-B10E-6D1CCAF6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C5D82-3F0D-2565-B06E-E0A864E4C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AEEEA-1A24-C6DB-DA1A-5BB6E18CF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F25F1-8817-0057-48DC-1C339A9B6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657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972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312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2406-C80C-F8DA-DC5C-DE1805E7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89BF-6F0E-1A6D-21EB-EB65C4523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89034-16E2-0034-1E59-3922F4175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2E174-CA72-FD32-0026-BEF8AE87A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39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18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48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15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EBE1-B085-91AD-7F2D-F867EBDD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DD84F-C8E4-8990-25C0-8518198FB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2F73D-4973-CD82-8430-CB0728338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74109-F1C1-60E2-B619-34CCDA29E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477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07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37472-EA4A-C930-BF95-A71641EB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C80AD-3E80-CDE3-D823-DF6E0CCAF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4BC06-0ECC-8BAB-B2D5-70203DD5D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1140D-9331-66CF-A2C9-C7BFF33C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703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47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6295-056C-F149-8876-A3C098EA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83A31-AC3C-E154-EE2A-8F819B85C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32FAE-9765-67C5-F9A1-253BBFF2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00C0D-A37F-8C82-A287-F36519E94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24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5051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69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69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406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496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749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77C-8345-E9C8-1C64-A073FBEFE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CEB05-44CC-AE8B-50BD-E71BA948B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FFBF-EC97-6705-8C7C-7654700A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1EEC-BC23-0DBB-6410-768AA9A7A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32124-D70C-750E-2078-9D9E6820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344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3FFD-A506-5998-3096-F20667E6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88FFD-4ACA-1966-965D-3C4AB81BB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B4E0-5F7D-FBF5-9F8F-6A0EA8A5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F550F-4C4E-3E11-689B-2754FD06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9340-8179-416A-5EF3-53C605DE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17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04A51-B85D-A64F-5331-AD2F82DC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3BE69-4846-CCFF-9885-C031D2339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B0FF9-AA90-F771-7A53-C95EDD26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0505-EE34-C325-11D3-DA5C35EE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B82E0-203D-E3EE-0318-5C2D5902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2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5666-2996-F34C-8E47-FBCA4483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30C5-262D-9A42-D61B-B1E2B848D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90AD3-610E-D2BD-F00D-D9A56AACD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DE0CF-C93F-E08D-3A95-06F3F7E4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81EA1-7373-CDAF-C250-7E63AC668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ECE44-572F-05D3-4B90-B56C5378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65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A721-285A-3E71-97A6-3FB18963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5C2C2-E8D1-A110-5473-BD9C16EA5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B80D3-C20E-D695-52F1-18D118889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CF43E-0B52-8535-A030-835D84E99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D26B0-2B7B-B7DD-E0A1-6D0057CC8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15FB8-510E-665F-7A85-D2BA6595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43FA-2E90-231C-A805-F8C91B93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003082-ED36-D1EE-00AD-DCB83F9F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49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7B2A-F083-1A52-02EC-7C322A15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7334E-CE70-1B5C-5AAF-1BC98571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CA3D7-DB64-5DAF-8DE8-69E5C6D3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86DC3-89BC-9AB2-7969-CACE8414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17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ABA2B-8797-EF38-DB94-CE89DF55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C9C57-BC8E-D531-BD97-02AE6B5C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0E190-B10B-A8AE-8DA2-7B10E428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95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7642-BB12-771F-97D2-EE60271EC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915B5-86DD-19DE-52A0-CD2CEE81F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6FA9-D2F6-4EE3-9E81-2F86D4995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DB4A1-CA27-E478-FF9E-D96DA202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B7322-A946-BFEC-585B-FD2A7DE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0F9AD-092F-E54D-4A5C-F17923BE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6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DF43-33B2-65EF-F627-FC44B8C4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6A885-CCB5-67E5-8796-A2F45720D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650AB-88B3-277B-75DF-928F8E5EE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5A854-19D1-0B8A-BA11-025C3090F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60FDA-D64D-EE8D-64A0-9445EF4B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4A8D4-0B57-B63A-A886-98D9BC8E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02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6B43-B20D-ECB7-CEF3-1A13F79E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3DE41-C511-1649-AEF6-EE5101796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E25F8-94BD-9AF4-A1CF-03FC6A49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9C72B-5D2C-0E7B-9EE6-48340451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56F2-C72C-3EC2-C856-94C173A2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DFD9B-EBCC-BA18-F257-EB0B9B4F1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8CC42-F903-AE11-8235-8AD1AA585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509C0-6D82-62E0-C230-4D097FE3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00B6A-21AB-A463-9988-B789CCAD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7244-F44A-DF63-F7B3-B301B304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590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Yellow - 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curved lines&#10;&#10;AI-generated content may be incorrect.">
            <a:extLst>
              <a:ext uri="{FF2B5EF4-FFF2-40B4-BE49-F238E27FC236}">
                <a16:creationId xmlns:a16="http://schemas.microsoft.com/office/drawing/2014/main" id="{B73DC436-C430-1491-E846-E1D25FC068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226183" cy="6858000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630086" y="3705443"/>
            <a:ext cx="4931833" cy="2709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 sz="1333" b="0" i="0" spc="267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55612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30244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4349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/>
              <a:t>PRESENTATION DATE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34183" y="8110409"/>
            <a:ext cx="12260365" cy="0"/>
          </a:xfrm>
          <a:prstGeom prst="line">
            <a:avLst/>
          </a:prstGeom>
          <a:ln w="6350" cap="flat" cmpd="sng" algn="ctr">
            <a:solidFill>
              <a:schemeClr val="accent5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65173" y="2215092"/>
            <a:ext cx="10611576" cy="73286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48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3" y="3093068"/>
            <a:ext cx="10611576" cy="46727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133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2pPr>
            <a:lvl3pPr marL="755612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3pPr>
            <a:lvl4pPr marL="1130244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4pPr>
            <a:lvl5pPr marL="144349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64F9DD-DE30-C34A-A485-A07A839C3C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63317" y="5454985"/>
            <a:ext cx="3510899" cy="683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client logo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2B273F-83BA-A2C5-1897-4D85557BA0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56" y="3560340"/>
            <a:ext cx="3759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36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White">
    <p:bg>
      <p:bgPr>
        <a:solidFill>
          <a:srgbClr val="FE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85950" y="571697"/>
            <a:ext cx="10807652" cy="44048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2667"/>
              </a:lnSpc>
              <a:defRPr sz="2933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Slide title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0608-C600-554E-813F-6D4EC02AF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070" y="1583269"/>
            <a:ext cx="10807700" cy="2800351"/>
          </a:xfrm>
          <a:prstGeom prst="rect">
            <a:avLst/>
          </a:prstGeom>
        </p:spPr>
        <p:txBody>
          <a:bodyPr/>
          <a:lstStyle>
            <a:lvl1pPr marL="380981" indent="-380981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98988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3926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77330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16502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C8156-3E9F-6D42-BC09-E86831EB4BD7}"/>
              </a:ext>
            </a:extLst>
          </p:cNvPr>
          <p:cNvSpPr txBox="1"/>
          <p:nvPr userDrawn="1"/>
        </p:nvSpPr>
        <p:spPr>
          <a:xfrm>
            <a:off x="11469217" y="6576097"/>
            <a:ext cx="666087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99FBE0F-E013-8744-85F1-2202A360EF8A}" type="slidenum">
              <a:rPr lang="en-US" sz="667" b="0" i="0" spc="0" baseline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667" b="0" i="0" spc="0" baseline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BCDDE-4B2D-D9CB-1B80-F64BBF7AB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8997"/>
            <a:ext cx="419279" cy="3589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0FCFB7-345B-5532-901F-FB3C2AA30452}"/>
              </a:ext>
            </a:extLst>
          </p:cNvPr>
          <p:cNvGrpSpPr/>
          <p:nvPr userDrawn="1"/>
        </p:nvGrpSpPr>
        <p:grpSpPr>
          <a:xfrm>
            <a:off x="-56699" y="6286303"/>
            <a:ext cx="12248699" cy="582884"/>
            <a:chOff x="-42524" y="4714727"/>
            <a:chExt cx="9186524" cy="4371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D3E70E-8207-1DD9-A0BA-C9B76DADC2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2524" y="4714727"/>
              <a:ext cx="9186524" cy="437163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882186-B640-AD70-6515-3EE323ECF299}"/>
                </a:ext>
              </a:extLst>
            </p:cNvPr>
            <p:cNvGrpSpPr/>
            <p:nvPr userDrawn="1"/>
          </p:nvGrpSpPr>
          <p:grpSpPr>
            <a:xfrm>
              <a:off x="157229" y="4832170"/>
              <a:ext cx="1798358" cy="269180"/>
              <a:chOff x="314460" y="4647384"/>
              <a:chExt cx="2355272" cy="359852"/>
            </a:xfrm>
          </p:grpSpPr>
          <p:pic>
            <p:nvPicPr>
              <p:cNvPr id="12" name="Picture 11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14B8BAAB-1A0E-E7F6-9140-98409B12FF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43" t="31741" r="22676" b="46337"/>
              <a:stretch/>
            </p:blipFill>
            <p:spPr>
              <a:xfrm>
                <a:off x="314460" y="4647384"/>
                <a:ext cx="907472" cy="359852"/>
              </a:xfrm>
              <a:prstGeom prst="rect">
                <a:avLst/>
              </a:prstGeom>
            </p:spPr>
          </p:pic>
          <p:pic>
            <p:nvPicPr>
              <p:cNvPr id="13" name="Picture 12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7C5C02F2-245D-A75B-547C-7883F417D6D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07" t="53939" r="23341" b="35665"/>
              <a:stretch/>
            </p:blipFill>
            <p:spPr>
              <a:xfrm>
                <a:off x="1221932" y="4714151"/>
                <a:ext cx="1447800" cy="2930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45015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74">
          <p15:clr>
            <a:srgbClr val="FBAE40"/>
          </p15:clr>
        </p15:guide>
        <p15:guide id="2" pos="3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471EB-E7DB-8EBA-7C39-B6B9B64B0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5D18-EF62-15C8-7F5E-0D82C3FF2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1818-93A1-5AB7-02C4-A93A7E780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D0A23-88BE-40EF-B921-E5729452E16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4F412-68FC-59D1-C257-B5ACEDBAE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0B434-EDE9-F1EA-30A9-C31A30FC3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CC560-11A8-4169-A46A-D88C860D5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68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645-D581-5681-4E4F-A4C305C1E0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9313-7E35-D226-7231-B6D7CD108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41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9533053" cy="732869"/>
          </a:xfrm>
        </p:spPr>
        <p:txBody>
          <a:bodyPr>
            <a:normAutofit/>
          </a:bodyPr>
          <a:lstStyle/>
          <a:p>
            <a:pPr algn="l"/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Advanced Concepts</a:t>
            </a:r>
          </a:p>
        </p:txBody>
      </p:sp>
    </p:spTree>
    <p:extLst>
      <p:ext uri="{BB962C8B-B14F-4D97-AF65-F5344CB8AC3E}">
        <p14:creationId xmlns:p14="http://schemas.microsoft.com/office/powerpoint/2010/main" val="165968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50" y="545320"/>
            <a:ext cx="10807652" cy="44048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Advanced Concepts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2146" y="1230813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and Why to Use Python's Powerful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Iterators &amp; Generators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2146" y="2593804"/>
            <a:ext cx="9015046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Iterators &amp; Generators</a:t>
            </a:r>
          </a:p>
          <a:p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Processing data that is too large to fit in memory.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Generators are your go-to tool for memory efficiency. They produce one item at a time, right when you need it.</a:t>
            </a:r>
          </a:p>
          <a:p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them: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Large Files: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log files, CSVs, or any text file line-by-line without loading the entire file.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Data Streams: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continuous data from network connections or sensors.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Infinite Sequences: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sequences that don't have a defined end, like a stream of random numbers.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 have a sequence so large you can't or shouldn't make a list out of it, use a generator.</a:t>
            </a:r>
          </a:p>
        </p:txBody>
      </p:sp>
    </p:spTree>
    <p:extLst>
      <p:ext uri="{BB962C8B-B14F-4D97-AF65-F5344CB8AC3E}">
        <p14:creationId xmlns:p14="http://schemas.microsoft.com/office/powerpoint/2010/main" val="91383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50" y="545320"/>
            <a:ext cx="10807652" cy="44048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Advanced Concepts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9391" y="1311875"/>
            <a:ext cx="9463455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Decorators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Adding the same behavior to multiple functions without repeating code.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Decorators are for modifying or enhancing functions in a clean, reusable way.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them: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print a log message whenever a function is called.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/ Profiling: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code to time how long any function takes to run.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if a user is logged in before allowing a function (like a web request handler) to execute.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the results of an expensive function call and return the cached result on subsequent calls with the same arguments.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 find yourself writing the same setup/teardown code around many functions, you should write a decorator instead.</a:t>
            </a:r>
          </a:p>
        </p:txBody>
      </p:sp>
    </p:spTree>
    <p:extLst>
      <p:ext uri="{BB962C8B-B14F-4D97-AF65-F5344CB8AC3E}">
        <p14:creationId xmlns:p14="http://schemas.microsoft.com/office/powerpoint/2010/main" val="54551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50" y="545320"/>
            <a:ext cx="10807652" cy="44048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Advanced Concepts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09829" y="1312964"/>
            <a:ext cx="868258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of Lambda, Map,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Case: Performing simple, one-line operations on lists or other sequences.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tools are for writing concise, functional-style code, especially for data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to use them: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 + lambda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 transform every element in a list. (e.g., convert a list of strings to lowercase, square every number).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 + lambda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 select a subset of elements from a list based on a condition. (e.g., get all even numbers, find all words longer than 5 characters).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 with sort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 provide a quick, custom sorting rule. (e.g., sort a list of dictionaries by a specific key).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these for short, clear data manipulation tasks that you can express in a single line. Avoid them for complex, multi-line logic.</a:t>
            </a:r>
          </a:p>
        </p:txBody>
      </p:sp>
    </p:spTree>
    <p:extLst>
      <p:ext uri="{BB962C8B-B14F-4D97-AF65-F5344CB8AC3E}">
        <p14:creationId xmlns:p14="http://schemas.microsoft.com/office/powerpoint/2010/main" val="2619179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50" y="545320"/>
            <a:ext cx="10725762" cy="44048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Advanced Concepts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2418" y="1280723"/>
            <a:ext cx="85050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Regular Expressions (Regex)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Finding, validating, or replacing complex patterns in text.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the ultimate tool for anything involving string patterns.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them: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Checking if user input matches a specific format (e.g., Is this a valid email address? Is this a valid phone number or postal code?).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Extracting specific pieces of information (like prices, names, or links) from an HTML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 &amp; Data Cleaning: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and replacing text, or splitting a string based on a complex delimiter. (e.g., finding all hashtags in a tweet).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"Find &amp; Replace" in a normal text editor isn't powerful enough for your task, you need Regular Expressions.</a:t>
            </a:r>
          </a:p>
        </p:txBody>
      </p:sp>
    </p:spTree>
    <p:extLst>
      <p:ext uri="{BB962C8B-B14F-4D97-AF65-F5344CB8AC3E}">
        <p14:creationId xmlns:p14="http://schemas.microsoft.com/office/powerpoint/2010/main" val="1947014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591" y="2486680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Iterators &amp; Generators </a:t>
            </a:r>
            <a:endParaRPr 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16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4000-2106-7006-733A-D1E7FF0B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208" y="556537"/>
            <a:ext cx="10807652" cy="440488"/>
          </a:xfrm>
        </p:spPr>
        <p:txBody>
          <a:bodyPr>
            <a:normAutofit/>
          </a:bodyPr>
          <a:lstStyle/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6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Iterators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EA59F2A-94DA-32F4-000B-3D747FF8AB91}"/>
              </a:ext>
            </a:extLst>
          </p:cNvPr>
          <p:cNvSpPr txBox="1"/>
          <p:nvPr/>
        </p:nvSpPr>
        <p:spPr>
          <a:xfrm>
            <a:off x="748853" y="1193131"/>
            <a:ext cx="10613007" cy="434952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5600" algn="l"/>
                <a:tab pos="879475" algn="l"/>
                <a:tab pos="2108200" algn="l"/>
                <a:tab pos="2490470" algn="l"/>
                <a:tab pos="2987675" algn="l"/>
                <a:tab pos="4020820" algn="l"/>
                <a:tab pos="4747895" algn="l"/>
                <a:tab pos="5392420" algn="l"/>
                <a:tab pos="5883275" algn="l"/>
                <a:tab pos="7158990" algn="l"/>
                <a:tab pos="8108950" algn="l"/>
              </a:tabLst>
            </a:pPr>
            <a:r>
              <a:rPr lang="en-US" spc="-25">
                <a:latin typeface="Times New Roman"/>
                <a:cs typeface="Times New Roman"/>
              </a:rPr>
              <a:t>An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iterator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is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an </a:t>
            </a:r>
            <a:r>
              <a:rPr lang="en-US" spc="-10">
                <a:latin typeface="Times New Roman"/>
                <a:cs typeface="Times New Roman"/>
              </a:rPr>
              <a:t>object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0">
                <a:latin typeface="Times New Roman"/>
                <a:cs typeface="Times New Roman"/>
              </a:rPr>
              <a:t>that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can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be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iterated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upon,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meaning </a:t>
            </a:r>
            <a:r>
              <a:rPr lang="en-US">
                <a:latin typeface="Times New Roman"/>
                <a:cs typeface="Times New Roman"/>
              </a:rPr>
              <a:t>that</a:t>
            </a:r>
            <a:r>
              <a:rPr lang="en-US" spc="-1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you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can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traverse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through</a:t>
            </a:r>
            <a:r>
              <a:rPr lang="en-US" spc="-1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all</a:t>
            </a:r>
            <a:r>
              <a:rPr lang="en-US" spc="-1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the</a:t>
            </a:r>
            <a:r>
              <a:rPr lang="en-US" spc="-10">
                <a:latin typeface="Times New Roman"/>
                <a:cs typeface="Times New Roman"/>
              </a:rPr>
              <a:t> values.</a:t>
            </a:r>
          </a:p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5600" algn="l"/>
                <a:tab pos="879475" algn="l"/>
                <a:tab pos="2108200" algn="l"/>
                <a:tab pos="2490470" algn="l"/>
                <a:tab pos="2987675" algn="l"/>
                <a:tab pos="4020820" algn="l"/>
                <a:tab pos="4747895" algn="l"/>
                <a:tab pos="5392420" algn="l"/>
                <a:tab pos="5883275" algn="l"/>
                <a:tab pos="7158990" algn="l"/>
                <a:tab pos="8108950" algn="l"/>
              </a:tabLst>
            </a:pPr>
            <a:r>
              <a:rPr lang="en-US" spc="-10">
                <a:latin typeface="Times New Roman"/>
                <a:cs typeface="Times New Roman"/>
              </a:rPr>
              <a:t>Technically,</a:t>
            </a:r>
            <a:r>
              <a:rPr lang="en-US" spc="-25">
                <a:latin typeface="Times New Roman"/>
                <a:cs typeface="Times New Roman"/>
              </a:rPr>
              <a:t> in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spc="-10">
                <a:latin typeface="Times New Roman"/>
                <a:cs typeface="Times New Roman"/>
              </a:rPr>
              <a:t>Python,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an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iterator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is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an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object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0">
                <a:latin typeface="Times New Roman"/>
                <a:cs typeface="Times New Roman"/>
              </a:rPr>
              <a:t>which </a:t>
            </a:r>
            <a:r>
              <a:rPr lang="en-US" spc="-10">
                <a:latin typeface="Times New Roman"/>
                <a:cs typeface="Times New Roman"/>
              </a:rPr>
              <a:t>implements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the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iterator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protocol,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which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consist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of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the </a:t>
            </a:r>
            <a:r>
              <a:rPr lang="en-US">
                <a:latin typeface="Times New Roman"/>
                <a:cs typeface="Times New Roman"/>
              </a:rPr>
              <a:t>methods  </a:t>
            </a:r>
            <a:r>
              <a:rPr lang="en-US">
                <a:uFill>
                  <a:solidFill>
                    <a:srgbClr val="2D5395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pc="-20">
                <a:latin typeface="Times New Roman"/>
                <a:cs typeface="Times New Roman"/>
              </a:rPr>
              <a:t>iter</a:t>
            </a:r>
            <a:r>
              <a:rPr lang="en-US">
                <a:uFill>
                  <a:solidFill>
                    <a:srgbClr val="2D5395"/>
                  </a:solidFill>
                </a:uFill>
                <a:latin typeface="Times New Roman"/>
                <a:cs typeface="Times New Roman"/>
              </a:rPr>
              <a:t>  </a:t>
            </a:r>
            <a:r>
              <a:rPr lang="en-US">
                <a:latin typeface="Times New Roman"/>
                <a:cs typeface="Times New Roman"/>
              </a:rPr>
              <a:t>() and  </a:t>
            </a:r>
            <a:r>
              <a:rPr lang="en-US">
                <a:uFill>
                  <a:solidFill>
                    <a:srgbClr val="2D5395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pc="-20">
                <a:latin typeface="Times New Roman"/>
                <a:cs typeface="Times New Roman"/>
              </a:rPr>
              <a:t>next</a:t>
            </a:r>
            <a:r>
              <a:rPr lang="en-US">
                <a:uFill>
                  <a:solidFill>
                    <a:srgbClr val="2D5395"/>
                  </a:solidFill>
                </a:uFill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().</a:t>
            </a:r>
          </a:p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5600" algn="l"/>
                <a:tab pos="879475" algn="l"/>
                <a:tab pos="2108200" algn="l"/>
                <a:tab pos="2490470" algn="l"/>
                <a:tab pos="2987675" algn="l"/>
                <a:tab pos="4020820" algn="l"/>
                <a:tab pos="4747895" algn="l"/>
                <a:tab pos="5392420" algn="l"/>
                <a:tab pos="5883275" algn="l"/>
                <a:tab pos="7158990" algn="l"/>
                <a:tab pos="8108950" algn="l"/>
              </a:tabLst>
            </a:pPr>
            <a:endParaRPr lang="en-US" b="1" spc="-2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5600" algn="l"/>
                <a:tab pos="879475" algn="l"/>
                <a:tab pos="2108200" algn="l"/>
                <a:tab pos="2490470" algn="l"/>
                <a:tab pos="2987675" algn="l"/>
                <a:tab pos="4020820" algn="l"/>
                <a:tab pos="4747895" algn="l"/>
                <a:tab pos="5392420" algn="l"/>
                <a:tab pos="5883275" algn="l"/>
                <a:tab pos="7158990" algn="l"/>
                <a:tab pos="8108950" algn="l"/>
              </a:tabLst>
            </a:pPr>
            <a:r>
              <a:rPr lang="en-US" b="1">
                <a:latin typeface="Times New Roman"/>
                <a:cs typeface="Times New Roman"/>
              </a:rPr>
              <a:t>Iterator</a:t>
            </a:r>
            <a:r>
              <a:rPr lang="en-US" b="1" spc="-35">
                <a:latin typeface="Times New Roman"/>
                <a:cs typeface="Times New Roman"/>
              </a:rPr>
              <a:t> </a:t>
            </a:r>
            <a:r>
              <a:rPr lang="en-US" b="1">
                <a:latin typeface="Times New Roman"/>
                <a:cs typeface="Times New Roman"/>
              </a:rPr>
              <a:t>vs</a:t>
            </a:r>
            <a:r>
              <a:rPr lang="en-US" b="1" spc="-20">
                <a:latin typeface="Times New Roman"/>
                <a:cs typeface="Times New Roman"/>
              </a:rPr>
              <a:t> </a:t>
            </a:r>
            <a:r>
              <a:rPr lang="en-US" b="1" spc="-10" err="1">
                <a:latin typeface="Times New Roman"/>
                <a:cs typeface="Times New Roman"/>
              </a:rPr>
              <a:t>Iterable</a:t>
            </a:r>
            <a:endParaRPr lang="en-US" b="1" spc="-10">
              <a:latin typeface="Times New Roman"/>
              <a:cs typeface="Times New Roman"/>
            </a:endParaRPr>
          </a:p>
          <a:p>
            <a:pPr marL="285750" marR="508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5600" algn="l"/>
                <a:tab pos="879475" algn="l"/>
                <a:tab pos="2108200" algn="l"/>
                <a:tab pos="2490470" algn="l"/>
                <a:tab pos="2987675" algn="l"/>
                <a:tab pos="4020820" algn="l"/>
                <a:tab pos="4747895" algn="l"/>
                <a:tab pos="5392420" algn="l"/>
                <a:tab pos="5883275" algn="l"/>
                <a:tab pos="7158990" algn="l"/>
                <a:tab pos="8108950" algn="l"/>
              </a:tabLst>
            </a:pPr>
            <a:endParaRPr lang="en-US" spc="-2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1249680" algn="l"/>
                <a:tab pos="2362835" algn="l"/>
                <a:tab pos="4267835" algn="l"/>
                <a:tab pos="4933950" algn="l"/>
                <a:tab pos="5657850" algn="l"/>
                <a:tab pos="6259830" algn="l"/>
                <a:tab pos="6741159" algn="l"/>
                <a:tab pos="7981950" algn="l"/>
                <a:tab pos="9248775" algn="l"/>
                <a:tab pos="10073640" algn="l"/>
              </a:tabLst>
            </a:pPr>
            <a:r>
              <a:rPr lang="en-US" spc="-10">
                <a:latin typeface="Times New Roman"/>
                <a:cs typeface="Times New Roman"/>
              </a:rPr>
              <a:t>Lists,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tuples,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dictionaries,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and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0">
                <a:latin typeface="Times New Roman"/>
                <a:cs typeface="Times New Roman"/>
              </a:rPr>
              <a:t>sets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are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all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 err="1">
                <a:latin typeface="Times New Roman"/>
                <a:cs typeface="Times New Roman"/>
              </a:rPr>
              <a:t>iterable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10">
                <a:latin typeface="Times New Roman"/>
                <a:cs typeface="Times New Roman"/>
              </a:rPr>
              <a:t>objects.</a:t>
            </a:r>
          </a:p>
          <a:p>
            <a:pPr marL="12700" marR="5080">
              <a:lnSpc>
                <a:spcPct val="150000"/>
              </a:lnSpc>
              <a:spcBef>
                <a:spcPts val="105"/>
              </a:spcBef>
              <a:tabLst>
                <a:tab pos="355600" algn="l"/>
                <a:tab pos="1249680" algn="l"/>
                <a:tab pos="2362835" algn="l"/>
                <a:tab pos="4267835" algn="l"/>
                <a:tab pos="4933950" algn="l"/>
                <a:tab pos="5657850" algn="l"/>
                <a:tab pos="6259830" algn="l"/>
                <a:tab pos="6741159" algn="l"/>
                <a:tab pos="7981950" algn="l"/>
                <a:tab pos="9248775" algn="l"/>
                <a:tab pos="10073640" algn="l"/>
              </a:tabLst>
            </a:pPr>
            <a:r>
              <a:rPr lang="en-US" spc="-20">
                <a:latin typeface="Times New Roman"/>
                <a:cs typeface="Times New Roman"/>
              </a:rPr>
              <a:t>    They</a:t>
            </a:r>
            <a:r>
              <a:rPr lang="en-US">
                <a:latin typeface="Times New Roman"/>
                <a:cs typeface="Times New Roman"/>
              </a:rPr>
              <a:t>  </a:t>
            </a:r>
            <a:r>
              <a:rPr lang="en-US" spc="-25">
                <a:latin typeface="Times New Roman"/>
                <a:cs typeface="Times New Roman"/>
              </a:rPr>
              <a:t>are </a:t>
            </a:r>
            <a:r>
              <a:rPr lang="en-US" err="1">
                <a:latin typeface="Times New Roman"/>
                <a:cs typeface="Times New Roman"/>
              </a:rPr>
              <a:t>iterable</a:t>
            </a:r>
            <a:r>
              <a:rPr lang="en-US" spc="-4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containers</a:t>
            </a:r>
            <a:r>
              <a:rPr lang="en-US" spc="-4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which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you</a:t>
            </a:r>
            <a:r>
              <a:rPr lang="en-US" spc="-4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can</a:t>
            </a:r>
            <a:r>
              <a:rPr lang="en-US" spc="-4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get</a:t>
            </a:r>
            <a:r>
              <a:rPr lang="en-US" spc="-4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an</a:t>
            </a:r>
            <a:r>
              <a:rPr lang="en-US" spc="-3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iterator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 spc="-10">
                <a:latin typeface="Times New Roman"/>
                <a:cs typeface="Times New Roman"/>
              </a:rPr>
              <a:t>from.</a:t>
            </a:r>
          </a:p>
          <a:p>
            <a:pPr marL="298450" marR="508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1249680" algn="l"/>
                <a:tab pos="2362835" algn="l"/>
                <a:tab pos="4267835" algn="l"/>
                <a:tab pos="4933950" algn="l"/>
                <a:tab pos="5657850" algn="l"/>
                <a:tab pos="6259830" algn="l"/>
                <a:tab pos="6741159" algn="l"/>
                <a:tab pos="7981950" algn="l"/>
                <a:tab pos="9248775" algn="l"/>
                <a:tab pos="10073640" algn="l"/>
              </a:tabLst>
            </a:pPr>
            <a:r>
              <a:rPr lang="en-US">
                <a:latin typeface="Times New Roman"/>
                <a:cs typeface="Times New Roman"/>
              </a:rPr>
              <a:t>All</a:t>
            </a:r>
            <a:r>
              <a:rPr lang="en-US" spc="-1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these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objects</a:t>
            </a:r>
            <a:r>
              <a:rPr lang="en-US" spc="-3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have</a:t>
            </a:r>
            <a:r>
              <a:rPr lang="en-US" spc="-1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iter() method</a:t>
            </a:r>
            <a:r>
              <a:rPr lang="en-US" spc="-3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which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is used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to</a:t>
            </a:r>
            <a:r>
              <a:rPr lang="en-US" spc="-1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get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an</a:t>
            </a:r>
            <a:r>
              <a:rPr lang="en-US" spc="-10">
                <a:latin typeface="Times New Roman"/>
                <a:cs typeface="Times New Roman"/>
              </a:rPr>
              <a:t> iterator:</a:t>
            </a:r>
            <a:endParaRPr lang="en-US">
              <a:latin typeface="Times New Roman"/>
              <a:cs typeface="Times New Roman"/>
            </a:endParaRPr>
          </a:p>
          <a:p>
            <a:pPr marL="355600" indent="-342900">
              <a:lnSpc>
                <a:spcPct val="150000"/>
              </a:lnSpc>
              <a:spcBef>
                <a:spcPts val="1515"/>
              </a:spcBef>
              <a:buFont typeface="Arial" panose="020B0604020202020204" pitchFamily="34" charset="0"/>
              <a:buChar char="•"/>
            </a:pPr>
            <a:r>
              <a:rPr lang="en-US" b="1" spc="-10">
                <a:latin typeface="Times New Roman"/>
                <a:cs typeface="Times New Roman"/>
              </a:rPr>
              <a:t>Example:- </a:t>
            </a:r>
            <a:r>
              <a:rPr lang="en-US">
                <a:latin typeface="Times New Roman"/>
                <a:cs typeface="Times New Roman"/>
              </a:rPr>
              <a:t>Return</a:t>
            </a:r>
            <a:r>
              <a:rPr lang="en-US" spc="-4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an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iterator</a:t>
            </a:r>
            <a:r>
              <a:rPr lang="en-US" spc="-1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from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tuple,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and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print</a:t>
            </a:r>
            <a:r>
              <a:rPr lang="en-US" spc="-2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each</a:t>
            </a:r>
            <a:r>
              <a:rPr lang="en-US" spc="-25">
                <a:latin typeface="Times New Roman"/>
                <a:cs typeface="Times New Roman"/>
              </a:rPr>
              <a:t> </a:t>
            </a:r>
            <a:r>
              <a:rPr lang="en-US" spc="-10">
                <a:latin typeface="Times New Roman"/>
                <a:cs typeface="Times New Roman"/>
              </a:rPr>
              <a:t>value: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24F34BE-4461-0B90-8097-BF417062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48" y="2470904"/>
            <a:ext cx="3388571" cy="13351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ABC4FA3-A0B5-2AE6-1AFF-DD146708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618" y="4303426"/>
            <a:ext cx="751201" cy="6173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CA4E32F-F33A-3E9F-4D63-F0C6C70BC892}"/>
              </a:ext>
            </a:extLst>
          </p:cNvPr>
          <p:cNvSpPr txBox="1"/>
          <p:nvPr/>
        </p:nvSpPr>
        <p:spPr>
          <a:xfrm>
            <a:off x="7447935" y="2104785"/>
            <a:ext cx="227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C588B5-6824-FFCF-8EFA-8A7CAF7873FC}"/>
              </a:ext>
            </a:extLst>
          </p:cNvPr>
          <p:cNvSpPr txBox="1"/>
          <p:nvPr/>
        </p:nvSpPr>
        <p:spPr>
          <a:xfrm>
            <a:off x="7690629" y="3928488"/>
            <a:ext cx="2598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847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F4EA-C679-FD5A-9819-6233E652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4B3C-1AA4-B22D-7009-F18207A2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74" y="670019"/>
            <a:ext cx="10807652" cy="440488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pc="-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b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24EEF9C-5DA7-8A6C-9090-16F94E28FDC4}"/>
              </a:ext>
            </a:extLst>
          </p:cNvPr>
          <p:cNvSpPr txBox="1"/>
          <p:nvPr/>
        </p:nvSpPr>
        <p:spPr>
          <a:xfrm>
            <a:off x="698808" y="1711397"/>
            <a:ext cx="4954506" cy="347338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298450" indent="-285750">
              <a:spcBef>
                <a:spcPts val="105"/>
              </a:spcBef>
              <a:buSzPct val="95000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lang="en-US"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lang="en-US"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lang="en-US"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object/class</a:t>
            </a:r>
            <a:r>
              <a:rPr lang="en-US"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lang="en-US"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lang="en-US"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iterator</a:t>
            </a:r>
            <a:r>
              <a:rPr lang="en-US"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lang="en-US"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lang="en-US"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lang="en-US"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implement</a:t>
            </a:r>
            <a:r>
              <a:rPr lang="en-US" sz="1600" spc="2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</a:t>
            </a:r>
            <a:r>
              <a:rPr lang="en-US"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methods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u="sng" dirty="0">
                <a:solidFill>
                  <a:srgbClr val="C00000"/>
                </a:solidFill>
                <a:uFill>
                  <a:solidFill>
                    <a:srgbClr val="C459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iter</a:t>
            </a:r>
            <a:r>
              <a:rPr lang="en-US" sz="1600" u="sng" dirty="0">
                <a:solidFill>
                  <a:srgbClr val="C00000"/>
                </a:solidFill>
                <a:uFill>
                  <a:solidFill>
                    <a:srgbClr val="C459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()</a:t>
            </a:r>
            <a:r>
              <a:rPr lang="en-US" sz="1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u="sng" dirty="0">
                <a:solidFill>
                  <a:srgbClr val="C00000"/>
                </a:solidFill>
                <a:uFill>
                  <a:solidFill>
                    <a:srgbClr val="C459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next</a:t>
            </a:r>
            <a:r>
              <a:rPr lang="en-US" sz="1600" u="sng" dirty="0">
                <a:solidFill>
                  <a:srgbClr val="C00000"/>
                </a:solidFill>
                <a:uFill>
                  <a:solidFill>
                    <a:srgbClr val="C459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()</a:t>
            </a:r>
            <a:r>
              <a:rPr lang="en-US"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lang="en-US"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your</a:t>
            </a:r>
            <a:r>
              <a:rPr lang="en-US"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object.</a:t>
            </a:r>
            <a:endParaRPr lang="en-US" sz="1600" dirty="0">
              <a:latin typeface="Times New Roman"/>
              <a:cs typeface="Times New Roman"/>
            </a:endParaRPr>
          </a:p>
          <a:p>
            <a:pPr marL="298450" indent="-285750">
              <a:spcBef>
                <a:spcPts val="105"/>
              </a:spcBef>
              <a:buSzPct val="95000"/>
              <a:buFont typeface="Arial" panose="020B0604020202020204" pitchFamily="34" charset="0"/>
              <a:buChar char="•"/>
              <a:tabLst>
                <a:tab pos="241300" algn="l"/>
                <a:tab pos="1050290" algn="l"/>
                <a:tab pos="1411605" algn="l"/>
                <a:tab pos="2270760" algn="l"/>
                <a:tab pos="2832100" algn="l"/>
                <a:tab pos="4204970" algn="l"/>
                <a:tab pos="5075555" algn="l"/>
                <a:tab pos="6430645" algn="l"/>
                <a:tab pos="7238365" algn="l"/>
                <a:tab pos="8023225" algn="l"/>
                <a:tab pos="8662035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298450" marR="6350" indent="-285750">
              <a:buSzPct val="95000"/>
              <a:buFont typeface="Arial" panose="020B0604020202020204" pitchFamily="34" charset="0"/>
              <a:buChar char="•"/>
              <a:tabLst>
                <a:tab pos="241300" algn="l"/>
                <a:tab pos="1050290" algn="l"/>
                <a:tab pos="1411605" algn="l"/>
                <a:tab pos="2270760" algn="l"/>
                <a:tab pos="2832100" algn="l"/>
                <a:tab pos="4204970" algn="l"/>
                <a:tab pos="5075555" algn="l"/>
                <a:tab pos="6430645" algn="l"/>
                <a:tab pos="7238365" algn="l"/>
                <a:tab pos="8023225" algn="l"/>
                <a:tab pos="8662035" algn="l"/>
              </a:tabLst>
            </a:pPr>
            <a:r>
              <a:rPr sz="1600" spc="-25" dirty="0">
                <a:latin typeface="Times New Roman"/>
                <a:cs typeface="Times New Roman"/>
              </a:rPr>
              <a:t>The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u="sng" dirty="0">
                <a:solidFill>
                  <a:srgbClr val="C00000"/>
                </a:solidFill>
                <a:uFill>
                  <a:solidFill>
                    <a:srgbClr val="C459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iter</a:t>
            </a:r>
            <a:r>
              <a:rPr lang="en-US" sz="1600" u="sng" dirty="0">
                <a:solidFill>
                  <a:srgbClr val="C00000"/>
                </a:solidFill>
                <a:uFill>
                  <a:solidFill>
                    <a:srgbClr val="C4591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()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method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acts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similar,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you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can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do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operations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(initializing</a:t>
            </a:r>
            <a:r>
              <a:rPr lang="en-US"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etc.),</a:t>
            </a:r>
            <a:r>
              <a:rPr lang="en-US"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lang="en-US"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must</a:t>
            </a:r>
            <a:r>
              <a:rPr lang="en-US"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always</a:t>
            </a:r>
            <a:r>
              <a:rPr lang="en-US"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return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lang="en-US"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iterator</a:t>
            </a:r>
            <a:r>
              <a:rPr lang="en-US"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</a:t>
            </a:r>
            <a:r>
              <a:rPr lang="en-US"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itself.</a:t>
            </a:r>
          </a:p>
          <a:p>
            <a:pPr marL="298450" marR="6350" indent="-285750">
              <a:buSzPct val="95000"/>
              <a:buFont typeface="Arial" panose="020B0604020202020204" pitchFamily="34" charset="0"/>
              <a:buChar char="•"/>
              <a:tabLst>
                <a:tab pos="241300" algn="l"/>
                <a:tab pos="1050290" algn="l"/>
                <a:tab pos="1411605" algn="l"/>
                <a:tab pos="2270760" algn="l"/>
                <a:tab pos="2832100" algn="l"/>
                <a:tab pos="4204970" algn="l"/>
                <a:tab pos="5075555" algn="l"/>
                <a:tab pos="6430645" algn="l"/>
                <a:tab pos="7238365" algn="l"/>
                <a:tab pos="8023225" algn="l"/>
                <a:tab pos="8662035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298450" indent="-285750">
              <a:buSzPct val="95000"/>
              <a:buFont typeface="Arial,Sans-Serif" panose="020B0604020202020204" pitchFamily="34" charset="0"/>
              <a:buChar char="•"/>
              <a:tabLst>
                <a:tab pos="241300" algn="l"/>
                <a:tab pos="1050290" algn="l"/>
                <a:tab pos="1411605" algn="l"/>
                <a:tab pos="2270760" algn="l"/>
                <a:tab pos="2832100" algn="l"/>
                <a:tab pos="4204970" algn="l"/>
                <a:tab pos="5075555" algn="l"/>
                <a:tab pos="6430645" algn="l"/>
                <a:tab pos="7238365" algn="l"/>
                <a:tab pos="8023225" algn="l"/>
                <a:tab pos="866203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The </a:t>
            </a:r>
            <a:r>
              <a:rPr lang="en-US" sz="1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next</a:t>
            </a:r>
            <a:r>
              <a:rPr lang="en-US" sz="1600" b="1" u="sng" spc="-10" dirty="0">
                <a:solidFill>
                  <a:srgbClr val="C00000"/>
                </a:solidFill>
                <a:latin typeface="Times New Roman"/>
                <a:cs typeface="Times New Roman"/>
              </a:rPr>
              <a:t> </a:t>
            </a:r>
            <a:r>
              <a:rPr lang="en-US" sz="1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()</a:t>
            </a:r>
            <a:r>
              <a:rPr lang="en-US"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 </a:t>
            </a:r>
            <a:r>
              <a:rPr lang="en-US" sz="1600" spc="-10" dirty="0">
                <a:latin typeface="Times New Roman"/>
                <a:cs typeface="Times New Roman"/>
              </a:rPr>
              <a:t>method also allows you to do </a:t>
            </a:r>
            <a:r>
              <a:rPr lang="en-US" sz="1600" spc="-10" dirty="0" err="1">
                <a:latin typeface="Times New Roman"/>
                <a:cs typeface="Times New Roman"/>
              </a:rPr>
              <a:t>operations,and</a:t>
            </a:r>
            <a:r>
              <a:rPr lang="en-US" sz="1600" spc="-10" dirty="0">
                <a:latin typeface="Times New Roman"/>
                <a:cs typeface="Times New Roman"/>
              </a:rPr>
              <a:t> must return the next item in the sequence. </a:t>
            </a:r>
          </a:p>
          <a:p>
            <a:pPr marL="298450" indent="-285750">
              <a:buSzPct val="95000"/>
              <a:buFont typeface="Arial,Sans-Serif" panose="020B0604020202020204" pitchFamily="34" charset="0"/>
              <a:buChar char="•"/>
              <a:tabLst>
                <a:tab pos="241300" algn="l"/>
                <a:tab pos="1050290" algn="l"/>
                <a:tab pos="1411605" algn="l"/>
                <a:tab pos="2270760" algn="l"/>
                <a:tab pos="2832100" algn="l"/>
                <a:tab pos="4204970" algn="l"/>
                <a:tab pos="5075555" algn="l"/>
                <a:tab pos="6430645" algn="l"/>
                <a:tab pos="7238365" algn="l"/>
                <a:tab pos="8023225" algn="l"/>
                <a:tab pos="8662035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285750" indent="-285750">
              <a:buFont typeface="Arial,Sans-Serif" panose="020B0604020202020204" pitchFamily="34" charset="0"/>
              <a:buChar char="•"/>
              <a:tabLst>
                <a:tab pos="241300" algn="l"/>
                <a:tab pos="1050290" algn="l"/>
                <a:tab pos="1411605" algn="l"/>
                <a:tab pos="2270760" algn="l"/>
                <a:tab pos="2832100" algn="l"/>
                <a:tab pos="4204970" algn="l"/>
                <a:tab pos="5075555" algn="l"/>
                <a:tab pos="6430645" algn="l"/>
                <a:tab pos="7238365" algn="l"/>
                <a:tab pos="8023225" algn="l"/>
                <a:tab pos="866203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Create an iterator that returns numbers, starting with 1, </a:t>
            </a:r>
            <a:r>
              <a:rPr lang="en-US" sz="1600" spc="-10" dirty="0" err="1">
                <a:latin typeface="Times New Roman"/>
                <a:cs typeface="Times New Roman"/>
              </a:rPr>
              <a:t>andeach</a:t>
            </a:r>
            <a:r>
              <a:rPr lang="en-US" sz="1600" spc="-10" dirty="0">
                <a:latin typeface="Times New Roman"/>
                <a:cs typeface="Times New Roman"/>
              </a:rPr>
              <a:t> sequence will increase by one (returning 1,2,3,4,5etc.): 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8CC926C-736F-4395-101F-BBA77A51F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242" y="3718344"/>
            <a:ext cx="3881432" cy="2485169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713AAEC-C146-C9FF-FB69-1D9111F5F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191" y="880307"/>
            <a:ext cx="3876940" cy="24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8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7E82-B14E-17FB-3C33-FFA3B787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74" y="670019"/>
            <a:ext cx="10807652" cy="440488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pc="-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pc="-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b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124A471-80FF-8F8A-8298-18437FC2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71" y="1310391"/>
            <a:ext cx="4139811" cy="4428566"/>
          </a:xfrm>
          <a:prstGeom prst="rect">
            <a:avLst/>
          </a:prstGeom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C49740F-BF56-9BCE-7F27-849FD18559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43" b="230"/>
          <a:stretch>
            <a:fillRect/>
          </a:stretch>
        </p:blipFill>
        <p:spPr>
          <a:xfrm>
            <a:off x="6643244" y="1306183"/>
            <a:ext cx="4863302" cy="484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39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4E2D-0B63-C2BC-3D47-49AA383D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28" y="680567"/>
            <a:ext cx="10807652" cy="440488"/>
          </a:xfrm>
        </p:spPr>
        <p:txBody>
          <a:bodyPr>
            <a:normAutofit fontScale="90000"/>
          </a:bodyPr>
          <a:lstStyle/>
          <a:p>
            <a: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  <a:t>Generators</a:t>
            </a:r>
            <a:b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C8C38B9-A87F-76C5-9B35-68A7B1C2C63F}"/>
              </a:ext>
            </a:extLst>
          </p:cNvPr>
          <p:cNvSpPr txBox="1"/>
          <p:nvPr/>
        </p:nvSpPr>
        <p:spPr>
          <a:xfrm>
            <a:off x="302332" y="1149810"/>
            <a:ext cx="5685922" cy="470449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35560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27660" algn="l"/>
              </a:tabLst>
            </a:pPr>
            <a:r>
              <a:rPr sz="1600" dirty="0">
                <a:latin typeface="Times New Roman"/>
                <a:cs typeface="Times New Roman"/>
              </a:rPr>
              <a:t>Generators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simplifies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creation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iterators.</a:t>
            </a:r>
            <a:endParaRPr lang="en-US" sz="1600" spc="-10">
              <a:latin typeface="Times New Roman"/>
              <a:cs typeface="Times New Roman"/>
            </a:endParaRPr>
          </a:p>
          <a:p>
            <a:pPr marL="355600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27660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327660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It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produces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sequence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instead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single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value.</a:t>
            </a:r>
            <a:endParaRPr sz="1600" spc="-1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240665" algn="l"/>
                <a:tab pos="327025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354965" marR="91440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40665" algn="l"/>
                <a:tab pos="327025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It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routine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iteration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loop.</a:t>
            </a:r>
            <a:endParaRPr sz="1600" spc="-10">
              <a:latin typeface="Times New Roman"/>
              <a:cs typeface="Times New Roman"/>
            </a:endParaRPr>
          </a:p>
          <a:p>
            <a:pPr marL="354965" marR="914400" indent="-34290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27660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327660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It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similar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returning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array.</a:t>
            </a:r>
            <a:endParaRPr sz="1600" spc="-1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327660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327660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It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parameters,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generates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a</a:t>
            </a:r>
            <a:r>
              <a:rPr lang="en-US"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sequence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result.</a:t>
            </a:r>
            <a:endParaRPr sz="1600" spc="-1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327660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355600" indent="-342900">
              <a:buFont typeface="Arial" panose="020B0604020202020204" pitchFamily="34" charset="0"/>
              <a:buChar char="•"/>
              <a:tabLst>
                <a:tab pos="327660" algn="l"/>
              </a:tabLst>
            </a:pP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unlike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return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whole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array,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generator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yields</a:t>
            </a:r>
            <a:r>
              <a:rPr lang="en-US"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10" dirty="0">
                <a:latin typeface="Times New Roman"/>
                <a:cs typeface="Times New Roman"/>
              </a:rPr>
              <a:t>time.</a:t>
            </a:r>
            <a:endParaRPr sz="1600" spc="-10">
              <a:latin typeface="Times New Roman"/>
              <a:cs typeface="Times New Roman"/>
            </a:endParaRPr>
          </a:p>
          <a:p>
            <a:pPr marL="12700">
              <a:tabLst>
                <a:tab pos="327660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  <a:p>
            <a:pPr>
              <a:tabLst>
                <a:tab pos="327660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Each time the yield statement is executed the function generates a new value.</a:t>
            </a:r>
          </a:p>
          <a:p>
            <a:pPr marL="12700">
              <a:buFont typeface="Arial" panose="020B0604020202020204" pitchFamily="34" charset="0"/>
              <a:tabLst>
                <a:tab pos="327660" algn="l"/>
              </a:tabLst>
            </a:pPr>
            <a:endParaRPr lang="en-US" sz="1600" spc="-1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2119A-61AA-40F8-B195-B18CB3E9E01E}"/>
              </a:ext>
            </a:extLst>
          </p:cNvPr>
          <p:cNvSpPr txBox="1"/>
          <p:nvPr/>
        </p:nvSpPr>
        <p:spPr>
          <a:xfrm>
            <a:off x="7304666" y="1340917"/>
            <a:ext cx="2381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EC4716-BA10-6EE4-AE2E-7639E533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" t="-3068" r="-807" b="-1339"/>
          <a:stretch>
            <a:fillRect/>
          </a:stretch>
        </p:blipFill>
        <p:spPr>
          <a:xfrm>
            <a:off x="6810349" y="1875902"/>
            <a:ext cx="4803615" cy="324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36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3204-4B94-CD47-71FA-D700DDA6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A2D0-AF8C-90F2-644E-9D2E5861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28" y="680567"/>
            <a:ext cx="10807652" cy="440488"/>
          </a:xfrm>
        </p:spPr>
        <p:txBody>
          <a:bodyPr>
            <a:normAutofit fontScale="90000"/>
          </a:bodyPr>
          <a:lstStyle/>
          <a:p>
            <a: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  <a:t>Generators</a:t>
            </a:r>
            <a:br>
              <a:rPr lang="en-US" spc="-1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B9C83B-E6EF-B0A1-0608-DB9AAB38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" t="-3068" r="-807" b="-1339"/>
          <a:stretch>
            <a:fillRect/>
          </a:stretch>
        </p:blipFill>
        <p:spPr>
          <a:xfrm>
            <a:off x="5990840" y="1444581"/>
            <a:ext cx="5781276" cy="3033426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1A7C0AE-575B-3452-030B-ACC2C0531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28" y="1599919"/>
            <a:ext cx="5347330" cy="271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4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95EF-7607-06C4-94C7-0D22D6B8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en-US" sz="2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en-US" sz="26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6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CF9648-0659-9734-D088-8C68F3046A60}"/>
              </a:ext>
            </a:extLst>
          </p:cNvPr>
          <p:cNvGrpSpPr/>
          <p:nvPr/>
        </p:nvGrpSpPr>
        <p:grpSpPr>
          <a:xfrm>
            <a:off x="1288821" y="1096631"/>
            <a:ext cx="9603142" cy="5196800"/>
            <a:chOff x="1210380" y="1040601"/>
            <a:chExt cx="9278172" cy="5174389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23339AAC-7996-1F1D-52A1-02AEA6181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0380" y="1040601"/>
              <a:ext cx="9278172" cy="5174389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17FBF49-8597-2873-2AE1-80F5DD485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3655" y="3900413"/>
              <a:ext cx="1116541" cy="320411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0275F81-B307-E161-4815-D004C4B00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0919" y="3059315"/>
              <a:ext cx="1116541" cy="3204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1107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10174891" cy="732869"/>
          </a:xfrm>
        </p:spPr>
        <p:txBody>
          <a:bodyPr>
            <a:normAutofit/>
          </a:bodyPr>
          <a:lstStyle/>
          <a:p>
            <a:pPr algn="l"/>
            <a:r>
              <a:rPr lang="en-IN" b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</a:p>
        </p:txBody>
      </p:sp>
    </p:spTree>
    <p:extLst>
      <p:ext uri="{BB962C8B-B14F-4D97-AF65-F5344CB8AC3E}">
        <p14:creationId xmlns:p14="http://schemas.microsoft.com/office/powerpoint/2010/main" val="390737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29941" y="1077958"/>
            <a:ext cx="486196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Times New Roman"/>
                <a:cs typeface="Times New Roman"/>
              </a:rPr>
              <a:t>A </a:t>
            </a:r>
            <a:r>
              <a:rPr lang="en-US" sz="1600" b="1" dirty="0">
                <a:latin typeface="Times New Roman"/>
                <a:cs typeface="Times New Roman"/>
              </a:rPr>
              <a:t>decorator</a:t>
            </a:r>
            <a:r>
              <a:rPr lang="en-US" sz="1600" dirty="0">
                <a:latin typeface="Times New Roman"/>
                <a:cs typeface="Times New Roman"/>
              </a:rPr>
              <a:t> in Python is a special function that adds extra functionality to another function without changing the original function's code. Think of it like adding toppings to a plain pizza; the pizza (your function) is still there, but the toppings (the decorator) add something extra.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 syntax </a:t>
            </a:r>
            <a:r>
              <a:rPr lang="en-US" altLang="en-US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@decorator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on top of a function is just a clean shortcut (syntactic sugar) for this: </a:t>
            </a: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my_function</a:t>
            </a:r>
            <a:r>
              <a:rPr lang="en-US" altLang="en-US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= decorator(</a:t>
            </a:r>
            <a:r>
              <a:rPr lang="en-US" altLang="en-US" sz="16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my_function</a:t>
            </a:r>
            <a:r>
              <a:rPr lang="en-US" altLang="en-US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 </a:t>
            </a:r>
            <a:endParaRPr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4467" y="3916005"/>
            <a:ext cx="28328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Decorators as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6809" y="4488643"/>
            <a:ext cx="4413562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dirty="0">
                <a:latin typeface="Times New Roman"/>
                <a:cs typeface="Times New Roman"/>
              </a:rPr>
              <a:t>This is the most common way to create a decorator. It involves a nested function structure.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600" dirty="0">
                <a:latin typeface="Times New Roman"/>
                <a:cs typeface="Times New Roman"/>
              </a:rPr>
              <a:t>An </a:t>
            </a:r>
            <a:r>
              <a:rPr lang="en-US" sz="1600" b="1" dirty="0">
                <a:latin typeface="Times New Roman"/>
                <a:cs typeface="Times New Roman"/>
              </a:rPr>
              <a:t>outer function</a:t>
            </a:r>
            <a:r>
              <a:rPr lang="en-US" sz="1600" dirty="0">
                <a:latin typeface="Times New Roman"/>
                <a:cs typeface="Times New Roman"/>
              </a:rPr>
              <a:t> (the decorator) that takes the original function as its argument.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600" dirty="0">
                <a:latin typeface="Times New Roman"/>
                <a:cs typeface="Times New Roman"/>
              </a:rPr>
              <a:t>An </a:t>
            </a:r>
            <a:r>
              <a:rPr lang="en-US" sz="1600" b="1" dirty="0">
                <a:latin typeface="Times New Roman"/>
                <a:cs typeface="Times New Roman"/>
              </a:rPr>
              <a:t>inner function</a:t>
            </a:r>
            <a:r>
              <a:rPr lang="en-US" sz="1600" dirty="0">
                <a:latin typeface="Times New Roman"/>
                <a:cs typeface="Times New Roman"/>
              </a:rPr>
              <a:t> (the "wrapper") that adds the new behavior and then runs the original function.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043" y="1657190"/>
            <a:ext cx="5889476" cy="43607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87916" y="1080776"/>
            <a:ext cx="6096000" cy="584775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A classic example is a decorator that times how long a function takes to run.</a:t>
            </a:r>
          </a:p>
        </p:txBody>
      </p:sp>
    </p:spTree>
    <p:extLst>
      <p:ext uri="{BB962C8B-B14F-4D97-AF65-F5344CB8AC3E}">
        <p14:creationId xmlns:p14="http://schemas.microsoft.com/office/powerpoint/2010/main" val="3362165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E865-7D33-C61C-605E-A4294131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6AC0-AA1D-E9A9-DDFA-29BEEBCF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1D9B46F0-C7C8-B42A-BA1E-0F894B70C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53" y="1339127"/>
            <a:ext cx="5410347" cy="46685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E36ECE-25C9-892A-BD85-C49EE424983F}"/>
              </a:ext>
            </a:extLst>
          </p:cNvPr>
          <p:cNvSpPr txBox="1"/>
          <p:nvPr/>
        </p:nvSpPr>
        <p:spPr>
          <a:xfrm>
            <a:off x="443346" y="1454727"/>
            <a:ext cx="565265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/>
                <a:ea typeface="+mn-lt"/>
                <a:cs typeface="+mn-lt"/>
              </a:rPr>
              <a:t>This code defines a 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decorator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called </a:t>
            </a:r>
            <a:r>
              <a:rPr lang="en-US" sz="1600" err="1">
                <a:latin typeface="Times New Roman"/>
                <a:ea typeface="+mn-lt"/>
                <a:cs typeface="+mn-lt"/>
              </a:rPr>
              <a:t>log_decorator</a:t>
            </a:r>
            <a:r>
              <a:rPr lang="en-US" sz="1600" dirty="0">
                <a:latin typeface="Times New Roman"/>
                <a:ea typeface="+mn-lt"/>
                <a:cs typeface="+mn-lt"/>
              </a:rPr>
              <a:t>. Decorators are a way to modify or enhance functions.</a:t>
            </a:r>
          </a:p>
          <a:p>
            <a:endParaRPr lang="en-US" sz="1600" dirty="0">
              <a:latin typeface="Times New Roman"/>
              <a:ea typeface="+mn-lt"/>
              <a:cs typeface="+mn-lt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When you use 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@log_decorator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above a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function (like </a:t>
            </a:r>
            <a:r>
              <a:rPr lang="en-US" sz="1600" b="1" err="1">
                <a:latin typeface="Times New Roman"/>
                <a:ea typeface="+mn-lt"/>
                <a:cs typeface="+mn-lt"/>
              </a:rPr>
              <a:t>say_hello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)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it means that </a:t>
            </a:r>
            <a:r>
              <a:rPr lang="en-US" sz="1600" b="1" err="1">
                <a:latin typeface="Times New Roman"/>
                <a:ea typeface="+mn-lt"/>
                <a:cs typeface="+mn-lt"/>
              </a:rPr>
              <a:t>log_decorator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will "wrap" the </a:t>
            </a:r>
            <a:r>
              <a:rPr lang="en-US" sz="1600" b="1" err="1">
                <a:latin typeface="Times New Roman"/>
                <a:ea typeface="+mn-lt"/>
                <a:cs typeface="+mn-lt"/>
              </a:rPr>
              <a:t>say_hello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function</a:t>
            </a:r>
            <a:r>
              <a:rPr lang="en-US" sz="1600" dirty="0">
                <a:latin typeface="Times New Roman"/>
                <a:ea typeface="+mn-lt"/>
                <a:cs typeface="+mn-lt"/>
              </a:rPr>
              <a:t>. The </a:t>
            </a:r>
            <a:r>
              <a:rPr lang="en-US" sz="1600" b="1" err="1">
                <a:latin typeface="Times New Roman"/>
                <a:ea typeface="+mn-lt"/>
                <a:cs typeface="+mn-lt"/>
              </a:rPr>
              <a:t>log_decorator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adds extra actions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(printing "Calling function..." and "Function ... finished.")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before and after the original </a:t>
            </a:r>
            <a:r>
              <a:rPr lang="en-US" sz="1600" b="1" err="1">
                <a:latin typeface="Times New Roman"/>
                <a:ea typeface="+mn-lt"/>
                <a:cs typeface="+mn-lt"/>
              </a:rPr>
              <a:t>say_hello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function runs, without changing the </a:t>
            </a:r>
            <a:r>
              <a:rPr lang="en-US" sz="1600" b="1" err="1">
                <a:latin typeface="Times New Roman"/>
                <a:ea typeface="+mn-lt"/>
                <a:cs typeface="+mn-lt"/>
              </a:rPr>
              <a:t>say_hello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function's code directly</a:t>
            </a:r>
          </a:p>
        </p:txBody>
      </p:sp>
    </p:spTree>
    <p:extLst>
      <p:ext uri="{BB962C8B-B14F-4D97-AF65-F5344CB8AC3E}">
        <p14:creationId xmlns:p14="http://schemas.microsoft.com/office/powerpoint/2010/main" val="2153794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3542" y="3427651"/>
            <a:ext cx="4783835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__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init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__()</a:t>
            </a:r>
            <a:r>
              <a:rPr lang="en-US" altLang="en-US" sz="1600" dirty="0">
                <a:latin typeface="Times New Roman"/>
                <a:cs typeface="Times New Roman"/>
              </a:rPr>
              <a:t>: This is called when the decorator is first applied. It receives the function you're decorating and saves it.</a:t>
            </a:r>
            <a:endParaRPr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/>
              <a:cs typeface="Times New Roman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__call__()</a:t>
            </a:r>
            <a:r>
              <a:rPr lang="en-US" altLang="en-US" sz="1600" dirty="0">
                <a:latin typeface="Times New Roman"/>
                <a:cs typeface="Times New Roman"/>
              </a:rPr>
              <a:t>: This makes the class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instance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behave like a function. When you call your decorated function, this is the code that actually runs.</a:t>
            </a: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233" y="1276733"/>
            <a:ext cx="5690971" cy="481669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08073" y="1285326"/>
            <a:ext cx="5249827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dirty="0">
                <a:latin typeface="Times New Roman"/>
                <a:cs typeface="Times New Roman"/>
              </a:rPr>
              <a:t>Decorators as Classes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You can also use a class to decorate a function. This is useful when you need to keep track of some state (like how many times a function has been called). The class needs two special methods:</a:t>
            </a:r>
          </a:p>
        </p:txBody>
      </p:sp>
    </p:spTree>
    <p:extLst>
      <p:ext uri="{BB962C8B-B14F-4D97-AF65-F5344CB8AC3E}">
        <p14:creationId xmlns:p14="http://schemas.microsoft.com/office/powerpoint/2010/main" val="3319797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8402" y="1211071"/>
            <a:ext cx="5092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Decorators with Arguments (Decorator Factories)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2792" y="1990486"/>
            <a:ext cx="448202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What if you want to pass an argument to your decorator,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@my_decorator("some value")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? You can't do this directly. Instead, you create a "decorator factory"—a function that takes your arguments and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returns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a decorator.</a:t>
            </a: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239" y="1800674"/>
            <a:ext cx="6151084" cy="41345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99480" y="1399644"/>
            <a:ext cx="5310791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This adds one extra layer of nesting:</a:t>
            </a:r>
          </a:p>
        </p:txBody>
      </p:sp>
    </p:spTree>
    <p:extLst>
      <p:ext uri="{BB962C8B-B14F-4D97-AF65-F5344CB8AC3E}">
        <p14:creationId xmlns:p14="http://schemas.microsoft.com/office/powerpoint/2010/main" val="288204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90A7-06EE-5266-B770-5B017A16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532C-4963-E068-B92E-390AA107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8506390-A156-6386-89F9-6D556821F4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2" r="225" b="-210"/>
          <a:stretch>
            <a:fillRect/>
          </a:stretch>
        </p:blipFill>
        <p:spPr>
          <a:xfrm>
            <a:off x="5212570" y="233934"/>
            <a:ext cx="6275667" cy="6291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20F19E-0051-3B8D-96CF-947E0A081AFD}"/>
              </a:ext>
            </a:extLst>
          </p:cNvPr>
          <p:cNvSpPr txBox="1"/>
          <p:nvPr/>
        </p:nvSpPr>
        <p:spPr>
          <a:xfrm>
            <a:off x="692729" y="1717964"/>
            <a:ext cx="4253344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/>
                <a:ea typeface="+mn-lt"/>
                <a:cs typeface="+mn-lt"/>
              </a:rPr>
              <a:t>This code shows a 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decorator factory</a:t>
            </a:r>
            <a:r>
              <a:rPr lang="en-US" sz="1600" dirty="0">
                <a:latin typeface="Times New Roman"/>
                <a:ea typeface="+mn-lt"/>
                <a:cs typeface="+mn-lt"/>
              </a:rPr>
              <a:t>. It's a function (</a:t>
            </a:r>
            <a:r>
              <a:rPr lang="en-US" sz="1600" err="1">
                <a:latin typeface="Times New Roman"/>
                <a:ea typeface="Calibri"/>
                <a:cs typeface="Calibri"/>
              </a:rPr>
              <a:t>check_authentication</a:t>
            </a:r>
            <a:r>
              <a:rPr lang="en-US" sz="1600" dirty="0">
                <a:latin typeface="Times New Roman"/>
                <a:ea typeface="+mn-lt"/>
                <a:cs typeface="+mn-lt"/>
              </a:rPr>
              <a:t>) that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600" b="1" i="1" dirty="0">
                <a:latin typeface="Times New Roman"/>
                <a:ea typeface="+mn-lt"/>
                <a:cs typeface="+mn-lt"/>
              </a:rPr>
              <a:t>returns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600" dirty="0">
                <a:latin typeface="Times New Roman"/>
                <a:ea typeface="+mn-lt"/>
                <a:cs typeface="+mn-lt"/>
              </a:rPr>
              <a:t>a decorator.</a:t>
            </a:r>
          </a:p>
          <a:p>
            <a:endParaRPr lang="en-US" sz="1600" dirty="0">
              <a:latin typeface="Times New Roman"/>
              <a:ea typeface="+mn-lt"/>
              <a:cs typeface="+mn-lt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The returned decorator is then used with </a:t>
            </a:r>
            <a:r>
              <a:rPr lang="en-US" sz="1600" b="1" dirty="0">
                <a:latin typeface="Times New Roman"/>
                <a:ea typeface="Calibri"/>
                <a:cs typeface="Calibri"/>
              </a:rPr>
              <a:t>@check_authentication(is_authenticated=...)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600" dirty="0">
                <a:latin typeface="Times New Roman"/>
                <a:ea typeface="+mn-lt"/>
                <a:cs typeface="+mn-lt"/>
              </a:rPr>
              <a:t>to control access to functions like </a:t>
            </a:r>
            <a:r>
              <a:rPr lang="en-US" sz="1600" b="1" err="1">
                <a:latin typeface="Times New Roman"/>
                <a:ea typeface="Calibri"/>
                <a:cs typeface="Calibri"/>
              </a:rPr>
              <a:t>view_dashboard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600" dirty="0">
                <a:latin typeface="Times New Roman"/>
                <a:ea typeface="+mn-lt"/>
                <a:cs typeface="+mn-lt"/>
              </a:rPr>
              <a:t>and </a:t>
            </a:r>
            <a:r>
              <a:rPr lang="en-US" sz="1600" b="1" err="1">
                <a:latin typeface="Times New Roman"/>
                <a:ea typeface="Calibri"/>
                <a:cs typeface="Calibri"/>
              </a:rPr>
              <a:t>view_admin_panel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based on the </a:t>
            </a:r>
            <a:r>
              <a:rPr lang="en-US" sz="1600" b="1" err="1">
                <a:latin typeface="Times New Roman"/>
                <a:ea typeface="Calibri"/>
                <a:cs typeface="Calibri"/>
              </a:rPr>
              <a:t>is_authenticated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600" dirty="0">
                <a:latin typeface="Times New Roman"/>
                <a:ea typeface="+mn-lt"/>
                <a:cs typeface="+mn-lt"/>
              </a:rPr>
              <a:t>parameter. </a:t>
            </a:r>
          </a:p>
          <a:p>
            <a:endParaRPr lang="en-US" sz="1600" dirty="0">
              <a:latin typeface="Times New Roman"/>
              <a:ea typeface="+mn-lt"/>
              <a:cs typeface="+mn-lt"/>
            </a:endParaRPr>
          </a:p>
          <a:p>
            <a:r>
              <a:rPr lang="en-US" sz="1600" dirty="0">
                <a:latin typeface="Times New Roman"/>
                <a:ea typeface="+mn-lt"/>
                <a:cs typeface="+mn-lt"/>
              </a:rPr>
              <a:t>If </a:t>
            </a:r>
            <a:r>
              <a:rPr lang="en-US" sz="1600" b="1" err="1">
                <a:latin typeface="Times New Roman"/>
                <a:ea typeface="Calibri"/>
                <a:cs typeface="Calibri"/>
              </a:rPr>
              <a:t>is_authenticated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600" dirty="0">
                <a:latin typeface="Times New Roman"/>
                <a:ea typeface="+mn-lt"/>
                <a:cs typeface="+mn-lt"/>
              </a:rPr>
              <a:t>is </a:t>
            </a:r>
            <a:r>
              <a:rPr lang="en-US" sz="1600" b="1" dirty="0">
                <a:latin typeface="Times New Roman"/>
                <a:ea typeface="Calibri"/>
                <a:cs typeface="Calibri"/>
              </a:rPr>
              <a:t>True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the function runs; otherwise, access is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denied</a:t>
            </a:r>
            <a:r>
              <a:rPr lang="en-US" sz="1600" dirty="0">
                <a:latin typeface="Times New Roman"/>
                <a:ea typeface="+mn-lt"/>
                <a:cs typeface="+mn-lt"/>
              </a:rPr>
              <a:t>.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0DACB-6329-47F5-BB56-65ABAFE40B61}"/>
              </a:ext>
            </a:extLst>
          </p:cNvPr>
          <p:cNvSpPr txBox="1"/>
          <p:nvPr/>
        </p:nvSpPr>
        <p:spPr>
          <a:xfrm>
            <a:off x="706582" y="1330036"/>
            <a:ext cx="37130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Decorator for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05733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Decorators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8047" y="1201104"/>
            <a:ext cx="53036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Preserving Function Metadata with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functools.wraps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08048" y="2277545"/>
            <a:ext cx="47750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A problem with decorators is that they hide the original function's metadata. For example, the function's name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__name__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) and its docstring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__doc__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) will be replaced by the wrapper's metadata.</a:t>
            </a: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To fix this, Python gives us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@wraps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from the </a:t>
            </a: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functools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module. You use it to decorate your inner wrapper function. It copies the metadata from the original function to the wrapper, making the decorated function look and feel like the original.</a:t>
            </a: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338" y="1197655"/>
            <a:ext cx="5480460" cy="47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7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10174891" cy="732869"/>
          </a:xfrm>
        </p:spPr>
        <p:txBody>
          <a:bodyPr>
            <a:normAutofit/>
          </a:bodyPr>
          <a:lstStyle/>
          <a:p>
            <a:pPr algn="l"/>
            <a:r>
              <a:rPr lang="en-IN" b="0"/>
              <a:t>Lambda, Map, Filter, Reduce</a:t>
            </a:r>
            <a:endParaRPr lang="en-IN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71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endParaRPr lang="en-IN" sz="3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3544" y="1225806"/>
            <a:ext cx="52498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is a small, anonymous function defined in a single line. It's useful when you need a simple function for a short period and don't want to define it formally with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def.</a:t>
            </a:r>
            <a:endParaRPr lang="en-US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 arguments: expression</a:t>
            </a:r>
            <a:endParaRPr lang="en-US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9235" y="2101055"/>
            <a:ext cx="24362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 simple square function: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9235" y="3251589"/>
            <a:ext cx="33825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 function with multiple arguments: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8466" y="1257956"/>
            <a:ext cx="4665682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As a key for sorting: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>
                <a:latin typeface="Times New Roman"/>
                <a:cs typeface="Times New Roman"/>
              </a:rPr>
              <a:t>Lambdas are often used to provide custom sorting logic.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50" y="2458269"/>
            <a:ext cx="3591426" cy="77163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34" y="3653866"/>
            <a:ext cx="3077004" cy="7144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869" y="1832334"/>
            <a:ext cx="4525006" cy="1247949"/>
          </a:xfrm>
          <a:prstGeom prst="rect">
            <a:avLst/>
          </a:prstGeom>
        </p:spPr>
      </p:pic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79E7FF54-9A8F-8B97-0CB2-F9E943541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2538" y="3754151"/>
            <a:ext cx="5701144" cy="17603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B28189-C681-526A-7CCB-6960D51BA3CE}"/>
              </a:ext>
            </a:extLst>
          </p:cNvPr>
          <p:cNvSpPr/>
          <p:nvPr/>
        </p:nvSpPr>
        <p:spPr>
          <a:xfrm>
            <a:off x="1026216" y="4387662"/>
            <a:ext cx="1689758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A Cube function:</a:t>
            </a:r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F5556FD-EA4E-553F-0210-E853ABE00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39" y="4682836"/>
            <a:ext cx="4524375" cy="1676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47DCD1A-B0C6-98C8-5BA7-0353F95015A8}"/>
              </a:ext>
            </a:extLst>
          </p:cNvPr>
          <p:cNvSpPr/>
          <p:nvPr/>
        </p:nvSpPr>
        <p:spPr>
          <a:xfrm>
            <a:off x="6221670" y="3417843"/>
            <a:ext cx="3727880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Checks a number is positive or negative:</a:t>
            </a:r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862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Map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54962" y="1255648"/>
            <a:ext cx="1061938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Times New Roman"/>
                <a:cs typeface="Times New Roman"/>
              </a:rPr>
              <a:t>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map()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function applies a given function to </a:t>
            </a:r>
            <a:r>
              <a:rPr lang="en-US" altLang="en-US" sz="1600" b="1">
                <a:latin typeface="Times New Roman"/>
                <a:cs typeface="Times New Roman"/>
              </a:rPr>
              <a:t>every item</a:t>
            </a:r>
            <a:r>
              <a:rPr lang="en-US" altLang="en-US" sz="1600">
                <a:latin typeface="Times New Roman"/>
                <a:cs typeface="Times New Roman"/>
              </a:rPr>
              <a:t> of an </a:t>
            </a:r>
            <a:r>
              <a:rPr lang="en-US" altLang="en-US" sz="1600" err="1">
                <a:latin typeface="Times New Roman"/>
                <a:cs typeface="Times New Roman"/>
              </a:rPr>
              <a:t>iterable</a:t>
            </a:r>
            <a:r>
              <a:rPr lang="en-US" altLang="en-US" sz="1600">
                <a:latin typeface="Times New Roman"/>
                <a:cs typeface="Times New Roman"/>
              </a:rPr>
              <a:t> (like a list) and returns a map object with the results. Think of it as an assembly line machine performing the same operation on every item that passes through. </a:t>
            </a:r>
          </a:p>
        </p:txBody>
      </p:sp>
      <p:sp>
        <p:nvSpPr>
          <p:cNvPr id="7" name="Rectangle 6"/>
          <p:cNvSpPr/>
          <p:nvPr/>
        </p:nvSpPr>
        <p:spPr>
          <a:xfrm>
            <a:off x="823545" y="2160737"/>
            <a:ext cx="33879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map(function, </a:t>
            </a:r>
            <a:r>
              <a:rPr lang="en-US" altLang="en-US" sz="14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8713" y="2472961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5065" y="2760835"/>
            <a:ext cx="29738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1. Find the length of each word: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429" y="3090654"/>
            <a:ext cx="3934374" cy="95263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616878" y="2802399"/>
            <a:ext cx="46858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3. Convert a list of numbers (as strings) to integers: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241" y="3217649"/>
            <a:ext cx="4239217" cy="98121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70157" y="4173230"/>
            <a:ext cx="4673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2. Convert temperatures from Celsius to Fahrenheit using a lambda: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429" y="4862642"/>
            <a:ext cx="6725589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49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9421-44D4-748D-5FAA-AC66785FF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07DA54-E9CD-91AD-700F-25D46678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Map Function</a:t>
            </a: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FB91B23-5195-9AF3-75BF-7A7AF169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66" y="1844820"/>
            <a:ext cx="7500504" cy="1796761"/>
          </a:xfrm>
          <a:prstGeom prst="rect">
            <a:avLst/>
          </a:prstGeom>
        </p:spPr>
      </p:pic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691597A-FDD2-C149-74BE-2B1C47451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8" y="4281055"/>
            <a:ext cx="6541943" cy="1814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C6E6B-B709-AE22-BEC4-E5F5EE409C76}"/>
              </a:ext>
            </a:extLst>
          </p:cNvPr>
          <p:cNvSpPr txBox="1"/>
          <p:nvPr/>
        </p:nvSpPr>
        <p:spPr>
          <a:xfrm>
            <a:off x="872836" y="1288473"/>
            <a:ext cx="692727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"/>
              </a:rPr>
              <a:t>Applying map to a List of Dictionaries</a:t>
            </a:r>
            <a:r>
              <a:rPr lang="en-US" sz="1600">
                <a:latin typeface="Times New Roman"/>
                <a:cs typeface="Times"/>
              </a:rPr>
              <a:t> </a:t>
            </a:r>
            <a:endParaRPr lang="en-US"/>
          </a:p>
          <a:p>
            <a:r>
              <a:rPr lang="en-US" sz="1400">
                <a:latin typeface="Times New Roman"/>
                <a:cs typeface="Times"/>
              </a:rPr>
              <a:t>A practical example of extracting and transforming data from a more complex structure.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2BB6B-8993-E5B3-E743-149949B2CD7D}"/>
              </a:ext>
            </a:extLst>
          </p:cNvPr>
          <p:cNvSpPr txBox="1"/>
          <p:nvPr/>
        </p:nvSpPr>
        <p:spPr>
          <a:xfrm>
            <a:off x="872838" y="3782291"/>
            <a:ext cx="667788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Using map with Multiple </a:t>
            </a:r>
            <a:r>
              <a:rPr lang="en-US" sz="1600" b="1" err="1">
                <a:latin typeface="Times New Roman"/>
                <a:cs typeface="Times New Roman"/>
              </a:rPr>
              <a:t>Iterables</a:t>
            </a:r>
            <a:r>
              <a:rPr lang="en-US" sz="1600">
                <a:latin typeface="Times New Roman"/>
                <a:cs typeface="Times New Roman"/>
              </a:rPr>
              <a:t> </a:t>
            </a:r>
          </a:p>
          <a:p>
            <a:r>
              <a:rPr lang="en-US" sz="1400">
                <a:latin typeface="Times New Roman"/>
                <a:cs typeface="Times New Roman"/>
              </a:rPr>
              <a:t>This demonstrates how map can take multiple lists and apply the function element-wise.</a:t>
            </a:r>
          </a:p>
        </p:txBody>
      </p:sp>
    </p:spTree>
    <p:extLst>
      <p:ext uri="{BB962C8B-B14F-4D97-AF65-F5344CB8AC3E}">
        <p14:creationId xmlns:p14="http://schemas.microsoft.com/office/powerpoint/2010/main" val="744196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Filter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564" y="1294537"/>
            <a:ext cx="9920377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filter()</a:t>
            </a:r>
            <a:r>
              <a:rPr lang="en-US" altLang="en-US" sz="1600">
                <a:latin typeface="Times New Roman"/>
                <a:cs typeface="Times New Roman"/>
              </a:rPr>
              <a:t> function constructs an iterator from elements of an </a:t>
            </a:r>
            <a:r>
              <a:rPr lang="en-US" altLang="en-US" sz="1600" err="1">
                <a:latin typeface="Times New Roman"/>
                <a:cs typeface="Times New Roman"/>
              </a:rPr>
              <a:t>iterable</a:t>
            </a:r>
            <a:r>
              <a:rPr lang="en-US" altLang="en-US" sz="1600">
                <a:latin typeface="Times New Roman"/>
                <a:cs typeface="Times New Roman"/>
              </a:rPr>
              <a:t> for which a function returns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True</a:t>
            </a:r>
            <a:r>
              <a:rPr lang="en-US" altLang="en-US" sz="1600">
                <a:latin typeface="Times New Roman"/>
                <a:cs typeface="Times New Roman"/>
              </a:rPr>
              <a:t>. In simple terms, it filters out items that don't meet a certain condition. 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5481" y="207101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filter(function, </a:t>
            </a:r>
            <a:r>
              <a:rPr lang="en-US" altLang="en-US" sz="1400" b="1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6300" y="256263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2064" y="2933115"/>
            <a:ext cx="43443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 numbers greater than a value: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2064" y="4411481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 out None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values from a list: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82938" y="2177123"/>
            <a:ext cx="3001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only the even numbers: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7361"/>
          <a:stretch/>
        </p:blipFill>
        <p:spPr>
          <a:xfrm>
            <a:off x="1195007" y="3264766"/>
            <a:ext cx="4757385" cy="9769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007" y="4755922"/>
            <a:ext cx="6392756" cy="81483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914" y="2562630"/>
            <a:ext cx="5220088" cy="82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29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E807-21C1-D2A0-FB09-B1419415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6A337C-201F-3274-6E1A-03F5F2DA0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Filter Function</a:t>
            </a: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9B1E087-F579-B938-136E-672FDA9A2E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59" r="186" b="50877"/>
          <a:stretch>
            <a:fillRect/>
          </a:stretch>
        </p:blipFill>
        <p:spPr>
          <a:xfrm>
            <a:off x="1231323" y="1778302"/>
            <a:ext cx="7997556" cy="1678453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0DAEE0F-E418-61EF-95C3-222053F5E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526" r="335" b="439"/>
          <a:stretch>
            <a:fillRect/>
          </a:stretch>
        </p:blipFill>
        <p:spPr>
          <a:xfrm>
            <a:off x="1245178" y="4182949"/>
            <a:ext cx="7986494" cy="16706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5BA652-2E69-66B0-EBD6-28D09C2AFE89}"/>
              </a:ext>
            </a:extLst>
          </p:cNvPr>
          <p:cNvSpPr txBox="1"/>
          <p:nvPr/>
        </p:nvSpPr>
        <p:spPr>
          <a:xfrm>
            <a:off x="1052945" y="3629890"/>
            <a:ext cx="755072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Filtering Emails from a List</a:t>
            </a:r>
            <a:r>
              <a:rPr lang="en-US" sz="1600">
                <a:latin typeface="Times New Roman"/>
                <a:cs typeface="Times New Roman"/>
              </a:rPr>
              <a:t> </a:t>
            </a:r>
            <a:endParaRPr lang="en-US"/>
          </a:p>
          <a:p>
            <a:r>
              <a:rPr lang="en-US" sz="1400">
                <a:latin typeface="Times New Roman"/>
                <a:cs typeface="Times New Roman"/>
              </a:rPr>
              <a:t>A useful, real-world example of filtering based on a pattern within strings.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8B27D7-41F2-C95C-475F-6E02F4D41F03}"/>
              </a:ext>
            </a:extLst>
          </p:cNvPr>
          <p:cNvSpPr txBox="1"/>
          <p:nvPr/>
        </p:nvSpPr>
        <p:spPr>
          <a:xfrm>
            <a:off x="1052945" y="1219200"/>
            <a:ext cx="59436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Filtering Strings by Length</a:t>
            </a:r>
            <a:r>
              <a:rPr lang="en-US" sz="1600">
                <a:latin typeface="Times New Roman"/>
                <a:cs typeface="Times New Roman"/>
              </a:rPr>
              <a:t> </a:t>
            </a:r>
            <a:endParaRPr lang="en-US"/>
          </a:p>
          <a:p>
            <a:r>
              <a:rPr lang="en-US" sz="1400">
                <a:latin typeface="Times New Roman"/>
                <a:cs typeface="Times New Roman"/>
              </a:rPr>
              <a:t>This shows how to filter based on a property of the items, like their length.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3832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Reduce Function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96113" y="1242803"/>
            <a:ext cx="477492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reduce()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 applies a function of two arguments cumulatively to the items of an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from left to right, so as to reduce the sequence to a single value. Think of it as rolling a snowball down a hill; it accumulates more snow as it goes.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Python 3,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reduce()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not a built-in function. You must import it from the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functools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functools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 reduce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reduce(function,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1" y="3631196"/>
            <a:ext cx="1258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49" y="4388811"/>
            <a:ext cx="5089927" cy="11302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44595" y="1242803"/>
            <a:ext cx="42643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Multiply all items in a list (calculate factorial):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032" y="1639884"/>
            <a:ext cx="4444736" cy="12360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1995" y="4019479"/>
            <a:ext cx="21355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Sum all items in a list: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44595" y="3059641"/>
            <a:ext cx="30711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 the largest number in a list: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032" y="3428973"/>
            <a:ext cx="4815804" cy="129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21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90C3-E6B9-3D7B-D769-D1CBCDBB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68D909-9FEA-FAF8-79BF-2FB714C6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Reduce Function</a:t>
            </a:r>
          </a:p>
        </p:txBody>
      </p:sp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243164A-765B-D9CA-6165-8451FC172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46"/>
          <a:stretch>
            <a:fillRect/>
          </a:stretch>
        </p:blipFill>
        <p:spPr>
          <a:xfrm>
            <a:off x="1177637" y="1937905"/>
            <a:ext cx="5361709" cy="1588604"/>
          </a:xfrm>
          <a:prstGeom prst="rect">
            <a:avLst/>
          </a:prstGeom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43BAA0F-8B53-3DD0-0875-1DECDE3A6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62" b="459"/>
          <a:stretch>
            <a:fillRect/>
          </a:stretch>
        </p:blipFill>
        <p:spPr>
          <a:xfrm>
            <a:off x="1177636" y="4140778"/>
            <a:ext cx="5361709" cy="1758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33ED58-870C-1F8A-2B67-D5E61FD47F11}"/>
              </a:ext>
            </a:extLst>
          </p:cNvPr>
          <p:cNvSpPr txBox="1"/>
          <p:nvPr/>
        </p:nvSpPr>
        <p:spPr>
          <a:xfrm>
            <a:off x="872836" y="3588327"/>
            <a:ext cx="816032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 Finding the Greatest Common Divisor (GCD)</a:t>
            </a:r>
            <a:r>
              <a:rPr lang="en-US" sz="1600">
                <a:latin typeface="Times New Roman"/>
                <a:cs typeface="Times New Roman"/>
              </a:rPr>
              <a:t> </a:t>
            </a:r>
            <a:endParaRPr lang="en-US"/>
          </a:p>
          <a:p>
            <a:r>
              <a:rPr lang="en-US" sz="1400">
                <a:latin typeface="Times New Roman"/>
                <a:cs typeface="Times New Roman"/>
              </a:rPr>
              <a:t>This advanced example shows reduce applying a function from another module (math) cumulatively.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0C945-F10A-35E9-2A1A-B3FA841EA384}"/>
              </a:ext>
            </a:extLst>
          </p:cNvPr>
          <p:cNvSpPr txBox="1"/>
          <p:nvPr/>
        </p:nvSpPr>
        <p:spPr>
          <a:xfrm>
            <a:off x="872836" y="1371600"/>
            <a:ext cx="731519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Concatenating Strings</a:t>
            </a:r>
            <a:r>
              <a:rPr lang="en-US" sz="1600">
                <a:latin typeface="Times New Roman"/>
                <a:cs typeface="Times New Roman"/>
              </a:rPr>
              <a:t> </a:t>
            </a:r>
          </a:p>
          <a:p>
            <a:r>
              <a:rPr lang="en-US" sz="1400">
                <a:latin typeface="Times New Roman"/>
                <a:cs typeface="Times New Roman"/>
              </a:rPr>
              <a:t>A great example to show reduce working on a sequence of strings to produce a single string.</a:t>
            </a:r>
          </a:p>
        </p:txBody>
      </p:sp>
    </p:spTree>
    <p:extLst>
      <p:ext uri="{BB962C8B-B14F-4D97-AF65-F5344CB8AC3E}">
        <p14:creationId xmlns:p14="http://schemas.microsoft.com/office/powerpoint/2010/main" val="633501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10174891" cy="732869"/>
          </a:xfrm>
        </p:spPr>
        <p:txBody>
          <a:bodyPr>
            <a:normAutofit/>
          </a:bodyPr>
          <a:lstStyle/>
          <a:p>
            <a:pPr algn="l"/>
            <a:r>
              <a:rPr lang="en-IN" b="0" dirty="0"/>
              <a:t>Regular Expressions </a:t>
            </a:r>
          </a:p>
        </p:txBody>
      </p:sp>
    </p:spTree>
    <p:extLst>
      <p:ext uri="{BB962C8B-B14F-4D97-AF65-F5344CB8AC3E}">
        <p14:creationId xmlns:p14="http://schemas.microsoft.com/office/powerpoint/2010/main" val="1224547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76123" y="1399629"/>
            <a:ext cx="106099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/>
                <a:cs typeface="Times New Roman"/>
              </a:rPr>
              <a:t>Regular Expressions, often called </a:t>
            </a:r>
            <a:r>
              <a:rPr lang="en-US" altLang="en-US" sz="1600" b="1" dirty="0">
                <a:latin typeface="Times New Roman"/>
                <a:cs typeface="Times New Roman"/>
              </a:rPr>
              <a:t>Regex</a:t>
            </a:r>
            <a:r>
              <a:rPr lang="en-US" altLang="en-US" sz="1600" dirty="0">
                <a:latin typeface="Times New Roman"/>
                <a:cs typeface="Times New Roman"/>
              </a:rPr>
              <a:t>, are a powerful mini-language for finding and manipulating patterns within text. Think of it as a supercharged "Find &amp; Replace" that can handle complex rules. To use it in Python, you first need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import 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.</a:t>
            </a:r>
            <a:endParaRPr lang="en-US" altLang="en-US" sz="1600" dirty="0"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250442" y="3567019"/>
            <a:ext cx="8228838" cy="2234341"/>
            <a:chOff x="478282" y="2527996"/>
            <a:chExt cx="9924003" cy="2276793"/>
          </a:xfrm>
        </p:grpSpPr>
        <p:grpSp>
          <p:nvGrpSpPr>
            <p:cNvPr id="6" name="Group 5"/>
            <p:cNvGrpSpPr/>
            <p:nvPr/>
          </p:nvGrpSpPr>
          <p:grpSpPr>
            <a:xfrm>
              <a:off x="478282" y="2527996"/>
              <a:ext cx="9905236" cy="2276793"/>
              <a:chOff x="495867" y="2527996"/>
              <a:chExt cx="9905236" cy="2276793"/>
            </a:xfrm>
            <a:solidFill>
              <a:srgbClr val="F0F4F9"/>
            </a:solidFill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867" y="2527996"/>
                <a:ext cx="7630590" cy="2276793"/>
              </a:xfrm>
              <a:prstGeom prst="rect">
                <a:avLst/>
              </a:prstGeom>
              <a:grpFill/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4"/>
              <a:srcRect l="68971"/>
              <a:stretch/>
            </p:blipFill>
            <p:spPr>
              <a:xfrm>
                <a:off x="8018586" y="2585888"/>
                <a:ext cx="2382517" cy="2143424"/>
              </a:xfrm>
              <a:prstGeom prst="rect">
                <a:avLst/>
              </a:prstGeom>
              <a:grpFill/>
            </p:spPr>
          </p:pic>
        </p:grpSp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/>
            <a:srcRect l="69887" t="90610"/>
            <a:stretch/>
          </p:blipFill>
          <p:spPr>
            <a:xfrm>
              <a:off x="8071338" y="2527996"/>
              <a:ext cx="2312180" cy="20127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4"/>
            <a:srcRect l="69887" t="90610"/>
            <a:stretch/>
          </p:blipFill>
          <p:spPr>
            <a:xfrm>
              <a:off x="8090105" y="4603515"/>
              <a:ext cx="2312180" cy="201274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976123" y="2116832"/>
            <a:ext cx="1868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0443" y="2507071"/>
            <a:ext cx="706043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alt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re.search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First Match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scans a string and looks for the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location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pattern matches. If it finds a match, it returns a special "match object"; otherwise, it returns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873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88" y="2360354"/>
            <a:ext cx="6601746" cy="129558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81294" y="1307625"/>
            <a:ext cx="1079682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Find All Matches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one of the most useful functions. It finds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non-overlapping matches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pattern in a string and returns them as a simple list of strings.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270000" y="3792053"/>
            <a:ext cx="549374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and Replace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replaces all occurrences of a pattern with a specified string.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788" y="4590091"/>
            <a:ext cx="602064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71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88" y="2360354"/>
            <a:ext cx="6601746" cy="129558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81294" y="1307625"/>
            <a:ext cx="1079682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Find All Matches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one of the most useful functions. It finds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non-overlapping matches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pattern in a string and returns them as a simple list of strings.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270000" y="3792053"/>
            <a:ext cx="549374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and Replace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replaces all occurrences of a pattern with a specified string.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788" y="4590091"/>
            <a:ext cx="602064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09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6054" y="1102739"/>
            <a:ext cx="3388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 (How Many Times?)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005" y="1710901"/>
            <a:ext cx="7444379" cy="19665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84633" y="3676563"/>
            <a:ext cx="7672646" cy="2659664"/>
            <a:chOff x="924073" y="2657218"/>
            <a:chExt cx="7116168" cy="293421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5"/>
            <a:srcRect b="41970"/>
            <a:stretch/>
          </p:blipFill>
          <p:spPr>
            <a:xfrm>
              <a:off x="924073" y="2657218"/>
              <a:ext cx="7116168" cy="213385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5"/>
            <a:srcRect t="76421"/>
            <a:stretch/>
          </p:blipFill>
          <p:spPr>
            <a:xfrm>
              <a:off x="924073" y="4724400"/>
              <a:ext cx="7116168" cy="8670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1474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05025" y="1444109"/>
            <a:ext cx="10589133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with Parentheses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Times New Roman"/>
                <a:cs typeface="Times New Roman"/>
              </a:rPr>
              <a:t>Parentheses do two things: they group parts of a pattern together, and they "capture" the text that matches inside them. This is extremely useful for extracting specific pieces of information.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endParaRPr lang="en-US" altLang="en-US" sz="1600" b="1" dirty="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01198" y="2976038"/>
            <a:ext cx="8891785" cy="2071833"/>
            <a:chOff x="685950" y="2585893"/>
            <a:chExt cx="8891785" cy="207183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950" y="2585893"/>
              <a:ext cx="7449590" cy="206721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/>
            <a:srcRect t="1905" b="6547"/>
            <a:stretch/>
          </p:blipFill>
          <p:spPr>
            <a:xfrm>
              <a:off x="4595465" y="2590800"/>
              <a:ext cx="4982270" cy="20669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6879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8361" y="1329809"/>
            <a:ext cx="10422396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Pre-compiling Patterns for Performance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If you plan to use the same Regex pattern many times (like inside a large loop), you can "compile" it first. This makes it slightly more efficient.</a:t>
            </a:r>
            <a:endParaRPr lang="en-IN" sz="1600" dirty="0"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65" y="2753213"/>
            <a:ext cx="6462962" cy="28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02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2352</Words>
  <Application>Microsoft Office PowerPoint</Application>
  <PresentationFormat>Widescreen</PresentationFormat>
  <Paragraphs>232</Paragraphs>
  <Slides>35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Arial,Sans-Serif</vt:lpstr>
      <vt:lpstr>Calibri</vt:lpstr>
      <vt:lpstr>Calibri Light</vt:lpstr>
      <vt:lpstr>Roboto Light</vt:lpstr>
      <vt:lpstr>Roboto Thin</vt:lpstr>
      <vt:lpstr>Times New Roman</vt:lpstr>
      <vt:lpstr>Office Theme</vt:lpstr>
      <vt:lpstr>PowerPoint Presentation</vt:lpstr>
      <vt:lpstr>Python Advanced Concepts</vt:lpstr>
      <vt:lpstr>Python Advanced Concepts</vt:lpstr>
      <vt:lpstr>Python Advanced Concepts</vt:lpstr>
      <vt:lpstr>Python Advanced Concepts</vt:lpstr>
      <vt:lpstr>Python Advanced Concepts</vt:lpstr>
      <vt:lpstr>Iterators &amp; Generators </vt:lpstr>
      <vt:lpstr>Python Iterators</vt:lpstr>
      <vt:lpstr>Create an Iterator </vt:lpstr>
      <vt:lpstr>Create an Iterator </vt:lpstr>
      <vt:lpstr>Generators </vt:lpstr>
      <vt:lpstr>Generators </vt:lpstr>
      <vt:lpstr>Relationship between Generator &amp; Iterator</vt:lpstr>
      <vt:lpstr>Decorators</vt:lpstr>
      <vt:lpstr>Decorators</vt:lpstr>
      <vt:lpstr>Decorators</vt:lpstr>
      <vt:lpstr>Decorators</vt:lpstr>
      <vt:lpstr>Decorators</vt:lpstr>
      <vt:lpstr>Decorators</vt:lpstr>
      <vt:lpstr>Decorators</vt:lpstr>
      <vt:lpstr>Lambda, Map, Filter, Reduce</vt:lpstr>
      <vt:lpstr>Lambda</vt:lpstr>
      <vt:lpstr>Map Function</vt:lpstr>
      <vt:lpstr>Map Function</vt:lpstr>
      <vt:lpstr>Filter Function</vt:lpstr>
      <vt:lpstr>Filter Function</vt:lpstr>
      <vt:lpstr>Reduce Function</vt:lpstr>
      <vt:lpstr>Reduce Function</vt:lpstr>
      <vt:lpstr>Regular Expressions 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  Jindal</dc:creator>
  <cp:lastModifiedBy>Renu  Jindal</cp:lastModifiedBy>
  <cp:revision>1</cp:revision>
  <dcterms:created xsi:type="dcterms:W3CDTF">2025-11-10T11:24:20Z</dcterms:created>
  <dcterms:modified xsi:type="dcterms:W3CDTF">2025-11-10T11:24:31Z</dcterms:modified>
</cp:coreProperties>
</file>